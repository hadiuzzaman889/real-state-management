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  <p:sldMasterId id="2147483652" r:id="rId2"/>
    <p:sldMasterId id="2147483653" r:id="rId3"/>
  </p:sldMasterIdLst>
  <p:notesMasterIdLst>
    <p:notesMasterId r:id="rId23"/>
  </p:notesMasterIdLst>
  <p:sldIdLst>
    <p:sldId id="256" r:id="rId4"/>
    <p:sldId id="257" r:id="rId5"/>
    <p:sldId id="258" r:id="rId6"/>
    <p:sldId id="259" r:id="rId7"/>
    <p:sldId id="291" r:id="rId8"/>
    <p:sldId id="293" r:id="rId9"/>
    <p:sldId id="298" r:id="rId10"/>
    <p:sldId id="294" r:id="rId11"/>
    <p:sldId id="295" r:id="rId12"/>
    <p:sldId id="296" r:id="rId13"/>
    <p:sldId id="297" r:id="rId14"/>
    <p:sldId id="260" r:id="rId15"/>
    <p:sldId id="261" r:id="rId16"/>
    <p:sldId id="288" r:id="rId17"/>
    <p:sldId id="289" r:id="rId18"/>
    <p:sldId id="290" r:id="rId19"/>
    <p:sldId id="300" r:id="rId20"/>
    <p:sldId id="299" r:id="rId21"/>
    <p:sldId id="281" r:id="rId22"/>
  </p:sldIdLst>
  <p:sldSz cx="12192000" cy="6858000"/>
  <p:notesSz cx="7772400" cy="100584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Quattrocento Sans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0BB734-E526-4B30-B477-1751CB449015}">
  <a:tblStyle styleId="{190BB734-E526-4B30-B477-1751CB4490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8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54063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54063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54063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54063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54063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54063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1776bc9d70_0_22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31776bc9d70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1084680" y="1598040"/>
            <a:ext cx="9143280" cy="316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1084680" y="1598040"/>
            <a:ext cx="9143280" cy="316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8803800" y="3456000"/>
            <a:ext cx="3387600" cy="3405600"/>
          </a:xfrm>
          <a:custGeom>
            <a:avLst/>
            <a:gdLst/>
            <a:ahLst/>
            <a:cxnLst/>
            <a:rect l="l" t="t" r="r" b="b"/>
            <a:pathLst>
              <a:path w="3388208" h="3406341" extrusionOk="0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rgbClr val="6378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8803800" y="3456000"/>
            <a:ext cx="3387600" cy="3405600"/>
          </a:xfrm>
          <a:custGeom>
            <a:avLst/>
            <a:gdLst/>
            <a:ahLst/>
            <a:cxnLst/>
            <a:rect l="l" t="t" r="r" b="b"/>
            <a:pathLst>
              <a:path w="3388208" h="3406341" extrusionOk="0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rgbClr val="6378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"/>
          <p:cNvSpPr/>
          <p:nvPr/>
        </p:nvSpPr>
        <p:spPr>
          <a:xfrm>
            <a:off x="0" y="439200"/>
            <a:ext cx="12191760" cy="660960"/>
          </a:xfrm>
          <a:prstGeom prst="rect">
            <a:avLst/>
          </a:prstGeom>
          <a:solidFill>
            <a:srgbClr val="C2DC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1084680" y="1598040"/>
            <a:ext cx="9143280" cy="316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/>
          <p:nvPr/>
        </p:nvSpPr>
        <p:spPr>
          <a:xfrm>
            <a:off x="8803800" y="3456000"/>
            <a:ext cx="3387600" cy="3405600"/>
          </a:xfrm>
          <a:custGeom>
            <a:avLst/>
            <a:gdLst/>
            <a:ahLst/>
            <a:cxnLst/>
            <a:rect l="l" t="t" r="r" b="b"/>
            <a:pathLst>
              <a:path w="3388208" h="3406341" extrusionOk="0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rgbClr val="6378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5"/>
          <p:cNvSpPr/>
          <p:nvPr/>
        </p:nvSpPr>
        <p:spPr>
          <a:xfrm>
            <a:off x="0" y="439200"/>
            <a:ext cx="12191760" cy="660960"/>
          </a:xfrm>
          <a:prstGeom prst="rect">
            <a:avLst/>
          </a:prstGeom>
          <a:solidFill>
            <a:srgbClr val="C2DC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084680" y="1598040"/>
            <a:ext cx="9143280" cy="316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969000" y="1227280"/>
            <a:ext cx="10254000" cy="1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lnSpc>
                <a:spcPct val="100001"/>
              </a:lnSpc>
            </a:pPr>
            <a:r>
              <a:rPr lang="en-US" sz="3600" b="1" i="0" dirty="0">
                <a:solidFill>
                  <a:srgbClr val="1F2937"/>
                </a:solidFill>
                <a:effectLst/>
                <a:latin typeface="ui-sans-serif"/>
              </a:rPr>
              <a:t>Real Estate Management System</a:t>
            </a:r>
          </a:p>
          <a:p>
            <a:pPr marL="0" marR="0" lvl="0" indent="0" algn="ctr" rtl="0">
              <a:lnSpc>
                <a:spcPct val="10000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2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 txBox="1"/>
          <p:nvPr/>
        </p:nvSpPr>
        <p:spPr>
          <a:xfrm>
            <a:off x="3777475" y="2536055"/>
            <a:ext cx="51489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dk2"/>
                </a:solidFill>
              </a:rPr>
              <a:t>Section: 08 | Group: 08 | Fall 2025</a:t>
            </a:r>
            <a:endParaRPr sz="2200" b="1" dirty="0">
              <a:solidFill>
                <a:schemeClr val="dk2"/>
              </a:solidFill>
            </a:endParaRPr>
          </a:p>
        </p:txBody>
      </p:sp>
      <p:sp>
        <p:nvSpPr>
          <p:cNvPr id="32" name="Google Shape;32;p7"/>
          <p:cNvSpPr txBox="1"/>
          <p:nvPr/>
        </p:nvSpPr>
        <p:spPr>
          <a:xfrm>
            <a:off x="3666999" y="216350"/>
            <a:ext cx="5124575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chemeClr val="accent1"/>
                </a:solidFill>
              </a:rPr>
              <a:t>CSE311 Project Presentation</a:t>
            </a:r>
            <a:endParaRPr sz="2700" b="1" dirty="0">
              <a:solidFill>
                <a:schemeClr val="accent1"/>
              </a:solidFill>
            </a:endParaRPr>
          </a:p>
        </p:txBody>
      </p:sp>
      <p:sp>
        <p:nvSpPr>
          <p:cNvPr id="33" name="Google Shape;33;p7"/>
          <p:cNvSpPr txBox="1"/>
          <p:nvPr/>
        </p:nvSpPr>
        <p:spPr>
          <a:xfrm>
            <a:off x="4556275" y="4176600"/>
            <a:ext cx="35913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accent1"/>
                </a:solidFill>
              </a:rPr>
              <a:t>Yousra</a:t>
            </a:r>
            <a:r>
              <a:rPr lang="en-US" sz="2000" b="1" dirty="0">
                <a:solidFill>
                  <a:schemeClr val="accent1"/>
                </a:solidFill>
              </a:rPr>
              <a:t> Amin 2221044042</a:t>
            </a:r>
            <a:endParaRPr sz="2000" b="1" dirty="0">
              <a:solidFill>
                <a:schemeClr val="accent1"/>
              </a:solidFill>
            </a:endParaRPr>
          </a:p>
        </p:txBody>
      </p:sp>
      <p:sp>
        <p:nvSpPr>
          <p:cNvPr id="34" name="Google Shape;34;p7"/>
          <p:cNvSpPr txBox="1"/>
          <p:nvPr/>
        </p:nvSpPr>
        <p:spPr>
          <a:xfrm>
            <a:off x="2290400" y="3485650"/>
            <a:ext cx="34182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accent1"/>
                </a:solidFill>
              </a:rPr>
              <a:t>Hadi</a:t>
            </a:r>
            <a:r>
              <a:rPr lang="en-US" sz="2000" b="1" dirty="0">
                <a:solidFill>
                  <a:schemeClr val="accent1"/>
                </a:solidFill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</a:rPr>
              <a:t>Uzzaman</a:t>
            </a:r>
            <a:r>
              <a:rPr lang="en-US" sz="2000" b="1" dirty="0">
                <a:solidFill>
                  <a:schemeClr val="accent1"/>
                </a:solidFill>
              </a:rPr>
              <a:t> 2022206642</a:t>
            </a:r>
            <a:endParaRPr sz="2000" b="1" dirty="0">
              <a:solidFill>
                <a:schemeClr val="accent1"/>
              </a:solidFill>
            </a:endParaRPr>
          </a:p>
        </p:txBody>
      </p:sp>
      <p:sp>
        <p:nvSpPr>
          <p:cNvPr id="10" name="Google Shape;33;p7">
            <a:extLst>
              <a:ext uri="{FF2B5EF4-FFF2-40B4-BE49-F238E27FC236}">
                <a16:creationId xmlns:a16="http://schemas.microsoft.com/office/drawing/2014/main" id="{D4AE95D1-8B80-45F5-8934-80C37CCA4844}"/>
              </a:ext>
            </a:extLst>
          </p:cNvPr>
          <p:cNvSpPr txBox="1"/>
          <p:nvPr/>
        </p:nvSpPr>
        <p:spPr>
          <a:xfrm>
            <a:off x="6229286" y="3467835"/>
            <a:ext cx="5219764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Md. </a:t>
            </a:r>
            <a:r>
              <a:rPr lang="en-US" sz="2000" b="1" dirty="0" err="1">
                <a:solidFill>
                  <a:schemeClr val="accent1"/>
                </a:solidFill>
              </a:rPr>
              <a:t>Rayhan</a:t>
            </a:r>
            <a:r>
              <a:rPr lang="en-US" sz="2000" b="1" dirty="0">
                <a:solidFill>
                  <a:schemeClr val="accent1"/>
                </a:solidFill>
              </a:rPr>
              <a:t> Chowdhury 1921647042</a:t>
            </a:r>
            <a:endParaRPr sz="20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/>
          <p:nvPr/>
        </p:nvSpPr>
        <p:spPr>
          <a:xfrm>
            <a:off x="3076575" y="371474"/>
            <a:ext cx="4597260" cy="122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Project Objectives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8"/>
          <p:cNvSpPr/>
          <p:nvPr/>
        </p:nvSpPr>
        <p:spPr>
          <a:xfrm>
            <a:off x="171450" y="1457325"/>
            <a:ext cx="5343525" cy="46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16000" marR="0" lvl="0" indent="-15299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  <a:p>
            <a:pPr marL="216000" marR="0" lvl="0" indent="-15299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15299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15299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15299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F282C1-0279-49E5-B972-5A0173B587F1}"/>
              </a:ext>
            </a:extLst>
          </p:cNvPr>
          <p:cNvSpPr txBox="1"/>
          <p:nvPr/>
        </p:nvSpPr>
        <p:spPr>
          <a:xfrm>
            <a:off x="761999" y="1601429"/>
            <a:ext cx="721042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Content: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 a comprehensive real estate management database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proper normalization (up to BCNF)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efficient relational schema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 practical SQL queries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 data integrity and consistency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16A4EE-B291-484D-A56C-B634CA0B631E}"/>
              </a:ext>
            </a:extLst>
          </p:cNvPr>
          <p:cNvSpPr txBox="1"/>
          <p:nvPr/>
        </p:nvSpPr>
        <p:spPr>
          <a:xfrm>
            <a:off x="761999" y="4015680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/>
              <a:t>Key Features: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Property Management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Client Relationship Management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Employee Assignment Tracking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Contract &amp; Offer Processing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Inspection Scheduling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520700" y="1407720"/>
            <a:ext cx="11671300" cy="265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9"/>
          <p:cNvSpPr/>
          <p:nvPr/>
        </p:nvSpPr>
        <p:spPr>
          <a:xfrm>
            <a:off x="1690214" y="397800"/>
            <a:ext cx="8798026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Core Entities (ER Diagram Overview)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20F144-841A-4FAF-B870-F5D4DAA08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00" y="1791206"/>
            <a:ext cx="116713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Entities: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Client, Employee, Property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Tables: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Listing, Offer, Contract, Inspection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Junction Tables: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Property_Feature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Property_Employee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Client_Inspection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Client_Property_Interest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Lookup Tables: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PropertyType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ListingStatus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ListingType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OfferStatus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ContractStatus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Feature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/>
          <p:nvPr/>
        </p:nvSpPr>
        <p:spPr>
          <a:xfrm>
            <a:off x="889200" y="1255320"/>
            <a:ext cx="10769040" cy="87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0"/>
          <p:cNvSpPr/>
          <p:nvPr/>
        </p:nvSpPr>
        <p:spPr>
          <a:xfrm>
            <a:off x="3174780" y="338431"/>
            <a:ext cx="5842440" cy="1239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Quattrocento Sans"/>
                <a:ea typeface="Quattrocento Sans"/>
                <a:cs typeface="Quattrocento Sans"/>
                <a:sym typeface="Quattrocento Sans"/>
              </a:rPr>
              <a:t>ER Diagrams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8C7391-A1A7-4C26-9D9B-85BFB0345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8171"/>
            <a:ext cx="12192000" cy="58998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5FD29-8645-4725-B7BC-C8CFE0CF5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420" y="2407665"/>
            <a:ext cx="9143280" cy="3161520"/>
          </a:xfrm>
        </p:spPr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1: Identify Functional Dependencies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          List all FDs for each table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(e.g.,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property_id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address,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client_id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name,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offer_id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amount)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 what determines what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becomes the foundation for all further normalization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2: Convert to 1NF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Ensure all attributes are atomic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Remove repeating groups and multi-valued fields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separate bridge tables for M:N relations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(e.g., PROPERTY_FEATURE, PROPERTY_EMPLOYEE)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A502F-E36E-44F3-9B68-3368A581C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90830" y="442470"/>
            <a:ext cx="6000870" cy="681480"/>
          </a:xfrm>
        </p:spPr>
        <p:txBody>
          <a:bodyPr>
            <a:normAutofit/>
          </a:bodyPr>
          <a:lstStyle/>
          <a:p>
            <a:r>
              <a:rPr lang="en-US" sz="3200" dirty="0"/>
              <a:t>Normalization</a:t>
            </a:r>
          </a:p>
        </p:txBody>
      </p:sp>
    </p:spTree>
    <p:extLst>
      <p:ext uri="{BB962C8B-B14F-4D97-AF65-F5344CB8AC3E}">
        <p14:creationId xmlns:p14="http://schemas.microsoft.com/office/powerpoint/2010/main" val="3344059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0361FD-C048-450C-A25D-1DBACA94EA92}"/>
              </a:ext>
            </a:extLst>
          </p:cNvPr>
          <p:cNvSpPr txBox="1"/>
          <p:nvPr/>
        </p:nvSpPr>
        <p:spPr>
          <a:xfrm>
            <a:off x="764720" y="1298121"/>
            <a:ext cx="8847365" cy="4764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3: Convert to 2NF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             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Applicable only for tables with composite primary keys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               Remove partial dependencies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               Keep only attributes fully dependent on the entire key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Mapping tables now contain only key + dependent attributes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4: Convert to 3NF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Remove transitive dependencies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(A → B → C chains)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Move derived/descriptive attributes into lookup tables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e.g., PROPERTY_TYPE, OFFER_STATUS, CONTRACT_STATUS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Every non-key attribute depends directly on the key</a:t>
            </a:r>
          </a:p>
        </p:txBody>
      </p:sp>
    </p:spTree>
    <p:extLst>
      <p:ext uri="{BB962C8B-B14F-4D97-AF65-F5344CB8AC3E}">
        <p14:creationId xmlns:p14="http://schemas.microsoft.com/office/powerpoint/2010/main" val="598484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24F81F-8DA8-4C7B-A804-95FDF4A44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092200"/>
            <a:ext cx="8648700" cy="576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88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197486-6DE7-4D69-9809-CA8A0C169197}"/>
              </a:ext>
            </a:extLst>
          </p:cNvPr>
          <p:cNvSpPr txBox="1"/>
          <p:nvPr/>
        </p:nvSpPr>
        <p:spPr>
          <a:xfrm>
            <a:off x="520700" y="1309913"/>
            <a:ext cx="11798300" cy="516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5: Convert to BCNF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For every dependency X → Y, ensure X is a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superkey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If not, decompose the table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Final BCNF schema contains: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Clean entity tables (CLIENT, PROPERTY, EMPLOYEE, OFFER, CONTRACT, INSPECTION)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Lookup tables (statuses &amp; types)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Bridge tables (PROPERTY_FEATURE, PROPERTY_EMPLOYEE)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Final Summary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1NF: Remove repeating values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2NF: Remove partial dependencies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3NF: Remove transitive dependencies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BCNF: Ensure every determinant is a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superkey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Result: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Minimal redundancy, maximal consistency, cleanest schema</a:t>
            </a:r>
          </a:p>
        </p:txBody>
      </p:sp>
    </p:spTree>
    <p:extLst>
      <p:ext uri="{BB962C8B-B14F-4D97-AF65-F5344CB8AC3E}">
        <p14:creationId xmlns:p14="http://schemas.microsoft.com/office/powerpoint/2010/main" val="167592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5;p11">
            <a:extLst>
              <a:ext uri="{FF2B5EF4-FFF2-40B4-BE49-F238E27FC236}">
                <a16:creationId xmlns:a16="http://schemas.microsoft.com/office/drawing/2014/main" id="{2F41BB82-3BC6-4EFF-BB41-E7DB53F00F55}"/>
              </a:ext>
            </a:extLst>
          </p:cNvPr>
          <p:cNvSpPr/>
          <p:nvPr/>
        </p:nvSpPr>
        <p:spPr>
          <a:xfrm>
            <a:off x="2628780" y="382320"/>
            <a:ext cx="6400440" cy="7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/>
            <a:r>
              <a:rPr lang="en-US" sz="4000" b="1" i="0" dirty="0">
                <a:solidFill>
                  <a:srgbClr val="1F2937"/>
                </a:solidFill>
                <a:effectLst/>
                <a:latin typeface="ui-sans-serif"/>
              </a:rPr>
              <a:t>Relational Schema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7DBE779-1599-4CCA-8BBD-1D056CC8C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700" y="1170000"/>
            <a:ext cx="11150600" cy="4708981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ENTITY TABLES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Client(id PK,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email_address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UNIQUE,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phone_number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registration_date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preferred_contact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Employee(id PK,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start_date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end_date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job_title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email UNIQUE,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phone_number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role_type_id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FK→RoleType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Property(id PK, address_line1, address_line2, city, region,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postal_code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property_type_id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FK→PropertyType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property_size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block_size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num_bedrooms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num_bathrooms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num_carspaces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description,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year_built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sz="1600" dirty="0">
              <a:solidFill>
                <a:srgbClr val="0307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TRANSACTION TABLES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Listing(id PK,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property_id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FK→Property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listing_status_id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FK→ListingStatus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listing_type_id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FK→ListingType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price,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created_date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available_from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available_until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Offer(id PK,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client_id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FK→Client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property_id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FK→Property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offer_status_id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FK→OfferStatus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offer_amount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offer_date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expiry_date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conditions) Contract(id PK,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property_id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FK→Property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listing_type_id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FK→ListingType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contract_document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responsible_employee_id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FK→Employee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client_id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FK→Client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contract_status_id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FK→ContractStatus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signed_date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start_date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end_date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contract_amount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Inspection(id PK,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property_id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FK→Property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inspection_datetime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responsible_employee_id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FK→Employee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inspection_notes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084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D1F4736-B33E-4C1E-B062-A62C0BA9A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1254266"/>
            <a:ext cx="11277600" cy="4893647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JUNCTION TABLES (Many-to-Many Relationships)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Property_Feature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property_id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PK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FK→Property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PK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FK→Feature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Property_Employee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property_id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PK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FK→Property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PK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FK→Employee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role_type_id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FK→RoleType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start_date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PK,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end_date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Client_Inspection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client_id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PK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FK→Client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inspection_id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PK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FK→Inspection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feedback, attended)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Client_Property_Interest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client_id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PK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FK→Client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property_id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PK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FK→Property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interest_date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interest_level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notes)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3071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LOOKUP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PropertyType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(id PK, description)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ListingStatus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(id PK, description)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ListingType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(id PK, description)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OfferStatus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(id PK, description)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ContractStatus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(id PK, description)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RoleType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(id PK, description)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Feature(id PK,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feature_name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565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61C5E8C-C1A5-403C-AA65-59BE6774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1362096"/>
            <a:ext cx="11417300" cy="301621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RELATIONSHIPS: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307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One Property can have many Listings (1:N)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307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One Client can make many Offers (1:N)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307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One Property can receive many Offers (1:N)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307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One Property can have many Contracts (1:N)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307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One Employee can manage many Properties (M:N via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Property_Employee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307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One Property can have many Features (M:N via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Property_Feature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307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One Client can attend many Inspections (M:N via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Client_Inspection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307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9883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/>
          <p:nvPr/>
        </p:nvSpPr>
        <p:spPr>
          <a:xfrm>
            <a:off x="2895480" y="471960"/>
            <a:ext cx="6400440" cy="7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Sample </a:t>
            </a:r>
            <a:r>
              <a:rPr lang="en-US" sz="3200" b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 Queries</a:t>
            </a:r>
            <a:endParaRPr sz="32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1"/>
          <p:cNvSpPr/>
          <p:nvPr/>
        </p:nvSpPr>
        <p:spPr>
          <a:xfrm>
            <a:off x="556920" y="1145160"/>
            <a:ext cx="4874040" cy="60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6F7CC-37CC-4CE4-B20D-F7B1FA31D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275" y="2972324"/>
            <a:ext cx="6913475" cy="388567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B26EACB-3953-4DB6-ACDA-6EFB71E67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605" y="1259640"/>
            <a:ext cx="6468437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List all available properties with their listing price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F97175-3B75-45D5-A52C-70A7B357BC89}"/>
              </a:ext>
            </a:extLst>
          </p:cNvPr>
          <p:cNvSpPr txBox="1"/>
          <p:nvPr/>
        </p:nvSpPr>
        <p:spPr>
          <a:xfrm>
            <a:off x="929357" y="1734981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p.address_line1, </a:t>
            </a:r>
            <a:r>
              <a:rPr lang="en-US" dirty="0" err="1"/>
              <a:t>p.city</a:t>
            </a:r>
            <a:r>
              <a:rPr lang="en-US" dirty="0"/>
              <a:t>, </a:t>
            </a:r>
            <a:r>
              <a:rPr lang="en-US" dirty="0" err="1"/>
              <a:t>l.price</a:t>
            </a:r>
            <a:r>
              <a:rPr lang="en-US" dirty="0"/>
              <a:t>, </a:t>
            </a:r>
            <a:r>
              <a:rPr lang="en-US" dirty="0" err="1"/>
              <a:t>lt.description</a:t>
            </a:r>
            <a:r>
              <a:rPr lang="en-US" dirty="0"/>
              <a:t> AS </a:t>
            </a:r>
            <a:r>
              <a:rPr lang="en-US" dirty="0" err="1"/>
              <a:t>listing_type</a:t>
            </a:r>
            <a:endParaRPr lang="en-US" dirty="0"/>
          </a:p>
          <a:p>
            <a:r>
              <a:rPr lang="en-US" dirty="0"/>
              <a:t>FROM listing l</a:t>
            </a:r>
          </a:p>
          <a:p>
            <a:r>
              <a:rPr lang="en-US" dirty="0"/>
              <a:t>JOIN property p ON </a:t>
            </a:r>
            <a:r>
              <a:rPr lang="en-US" dirty="0" err="1"/>
              <a:t>l.property_id</a:t>
            </a:r>
            <a:r>
              <a:rPr lang="en-US" dirty="0"/>
              <a:t> = p.id</a:t>
            </a:r>
          </a:p>
          <a:p>
            <a:r>
              <a:rPr lang="en-US" dirty="0"/>
              <a:t>JOIN </a:t>
            </a:r>
            <a:r>
              <a:rPr lang="en-US" dirty="0" err="1"/>
              <a:t>listing_type</a:t>
            </a:r>
            <a:r>
              <a:rPr lang="en-US" dirty="0"/>
              <a:t> </a:t>
            </a:r>
            <a:r>
              <a:rPr lang="en-US" dirty="0" err="1"/>
              <a:t>lt</a:t>
            </a:r>
            <a:r>
              <a:rPr lang="en-US" dirty="0"/>
              <a:t> ON </a:t>
            </a:r>
            <a:r>
              <a:rPr lang="en-US" dirty="0" err="1"/>
              <a:t>l.listing_type_id</a:t>
            </a:r>
            <a:r>
              <a:rPr lang="en-US" dirty="0"/>
              <a:t> = lt.id</a:t>
            </a:r>
          </a:p>
          <a:p>
            <a:r>
              <a:rPr lang="en-US" dirty="0"/>
              <a:t>WHERE </a:t>
            </a:r>
            <a:r>
              <a:rPr lang="en-US" dirty="0" err="1"/>
              <a:t>l.listing_status_id</a:t>
            </a:r>
            <a:r>
              <a:rPr lang="en-US" dirty="0"/>
              <a:t> = 1;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/>
          <p:nvPr/>
        </p:nvSpPr>
        <p:spPr>
          <a:xfrm>
            <a:off x="4584600" y="457200"/>
            <a:ext cx="3022560" cy="1239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2"/>
          <p:cNvSpPr/>
          <p:nvPr/>
        </p:nvSpPr>
        <p:spPr>
          <a:xfrm>
            <a:off x="1143360" y="2057400"/>
            <a:ext cx="10508760" cy="319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66D53-7504-451E-95A9-5AA186B15E02}"/>
              </a:ext>
            </a:extLst>
          </p:cNvPr>
          <p:cNvSpPr txBox="1"/>
          <p:nvPr/>
        </p:nvSpPr>
        <p:spPr>
          <a:xfrm>
            <a:off x="161925" y="120818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2. Find all offers made on a specific property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8227E1-4CCD-44A7-A83B-7C3A4ADE766D}"/>
              </a:ext>
            </a:extLst>
          </p:cNvPr>
          <p:cNvSpPr txBox="1"/>
          <p:nvPr/>
        </p:nvSpPr>
        <p:spPr>
          <a:xfrm>
            <a:off x="836543" y="1608297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o.offer_amount</a:t>
            </a:r>
            <a:r>
              <a:rPr lang="en-US" dirty="0"/>
              <a:t>, </a:t>
            </a:r>
            <a:r>
              <a:rPr lang="en-US" dirty="0" err="1"/>
              <a:t>o.offer_date</a:t>
            </a:r>
            <a:r>
              <a:rPr lang="en-US" dirty="0"/>
              <a:t>, </a:t>
            </a:r>
            <a:r>
              <a:rPr lang="en-US" dirty="0" err="1"/>
              <a:t>o.conditions</a:t>
            </a:r>
            <a:r>
              <a:rPr lang="en-US" dirty="0"/>
              <a:t>, </a:t>
            </a:r>
          </a:p>
          <a:p>
            <a:r>
              <a:rPr lang="en-US" dirty="0"/>
              <a:t>       </a:t>
            </a:r>
            <a:r>
              <a:rPr lang="en-US" dirty="0" err="1"/>
              <a:t>c.first_name</a:t>
            </a:r>
            <a:r>
              <a:rPr lang="en-US" dirty="0"/>
              <a:t>, </a:t>
            </a:r>
            <a:r>
              <a:rPr lang="en-US" dirty="0" err="1"/>
              <a:t>c.last_name</a:t>
            </a:r>
            <a:endParaRPr lang="en-US" dirty="0"/>
          </a:p>
          <a:p>
            <a:r>
              <a:rPr lang="en-US" dirty="0"/>
              <a:t>FROM offer o</a:t>
            </a:r>
          </a:p>
          <a:p>
            <a:r>
              <a:rPr lang="en-US" dirty="0"/>
              <a:t>JOIN client c ON </a:t>
            </a:r>
            <a:r>
              <a:rPr lang="en-US" dirty="0" err="1"/>
              <a:t>o.client_id</a:t>
            </a:r>
            <a:r>
              <a:rPr lang="en-US" dirty="0"/>
              <a:t> = c.id</a:t>
            </a:r>
          </a:p>
          <a:p>
            <a:r>
              <a:rPr lang="en-US" dirty="0"/>
              <a:t>WHERE </a:t>
            </a:r>
            <a:r>
              <a:rPr lang="en-US" dirty="0" err="1"/>
              <a:t>o.property_id</a:t>
            </a:r>
            <a:r>
              <a:rPr lang="en-US" dirty="0"/>
              <a:t> = 1;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09758E-8CBF-4ED1-911D-206F0CEB4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550" y="2955322"/>
            <a:ext cx="6943725" cy="390267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A60D6C-CB98-4FB0-A1F0-A1E194132548}"/>
              </a:ext>
            </a:extLst>
          </p:cNvPr>
          <p:cNvSpPr txBox="1"/>
          <p:nvPr/>
        </p:nvSpPr>
        <p:spPr>
          <a:xfrm>
            <a:off x="133350" y="118913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3. Show all features of a property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8603F0-4A0D-4126-BDA3-5B3A8B7B69E9}"/>
              </a:ext>
            </a:extLst>
          </p:cNvPr>
          <p:cNvSpPr txBox="1"/>
          <p:nvPr/>
        </p:nvSpPr>
        <p:spPr>
          <a:xfrm>
            <a:off x="571500" y="1589247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p.address_line1, </a:t>
            </a:r>
            <a:r>
              <a:rPr lang="en-US" dirty="0" err="1"/>
              <a:t>f.feature_name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property_feature</a:t>
            </a:r>
            <a:r>
              <a:rPr lang="en-US" dirty="0"/>
              <a:t> pf</a:t>
            </a:r>
          </a:p>
          <a:p>
            <a:r>
              <a:rPr lang="en-US" dirty="0"/>
              <a:t>JOIN property p ON </a:t>
            </a:r>
            <a:r>
              <a:rPr lang="en-US" dirty="0" err="1"/>
              <a:t>pf.property_id</a:t>
            </a:r>
            <a:r>
              <a:rPr lang="en-US" dirty="0"/>
              <a:t> = p.id</a:t>
            </a:r>
          </a:p>
          <a:p>
            <a:r>
              <a:rPr lang="en-US" dirty="0"/>
              <a:t>JOIN feature f ON </a:t>
            </a:r>
            <a:r>
              <a:rPr lang="en-US" dirty="0" err="1"/>
              <a:t>pf.feature_id</a:t>
            </a:r>
            <a:r>
              <a:rPr lang="en-US" dirty="0"/>
              <a:t> = f.id</a:t>
            </a:r>
          </a:p>
          <a:p>
            <a:r>
              <a:rPr lang="en-US" dirty="0"/>
              <a:t>WHERE p.id = 1;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21B830-9435-4CA2-947B-992DE1B62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575" y="2934455"/>
            <a:ext cx="7019925" cy="392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090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6C266C-206A-47B6-B196-5DC636F4FC3D}"/>
              </a:ext>
            </a:extLst>
          </p:cNvPr>
          <p:cNvSpPr txBox="1"/>
          <p:nvPr/>
        </p:nvSpPr>
        <p:spPr>
          <a:xfrm>
            <a:off x="66675" y="115103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4. List inspections with employee names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8559CC-136F-4AA8-9F37-2FA6BFF51D15}"/>
              </a:ext>
            </a:extLst>
          </p:cNvPr>
          <p:cNvSpPr txBox="1"/>
          <p:nvPr/>
        </p:nvSpPr>
        <p:spPr>
          <a:xfrm>
            <a:off x="628650" y="1551147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i.inspection_datetime</a:t>
            </a:r>
            <a:r>
              <a:rPr lang="en-US" dirty="0"/>
              <a:t>, </a:t>
            </a:r>
            <a:r>
              <a:rPr lang="en-US" dirty="0" err="1"/>
              <a:t>i.inspection_notes</a:t>
            </a:r>
            <a:r>
              <a:rPr lang="en-US" dirty="0"/>
              <a:t>,</a:t>
            </a:r>
          </a:p>
          <a:p>
            <a:r>
              <a:rPr lang="en-US" dirty="0"/>
              <a:t>       </a:t>
            </a:r>
            <a:r>
              <a:rPr lang="en-US" dirty="0" err="1"/>
              <a:t>e.first_name</a:t>
            </a:r>
            <a:r>
              <a:rPr lang="en-US" dirty="0"/>
              <a:t>, </a:t>
            </a:r>
            <a:r>
              <a:rPr lang="en-US" dirty="0" err="1"/>
              <a:t>e.last_name</a:t>
            </a:r>
            <a:endParaRPr lang="en-US" dirty="0"/>
          </a:p>
          <a:p>
            <a:r>
              <a:rPr lang="en-US" dirty="0"/>
              <a:t>FROM inspection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JOIN employee e ON </a:t>
            </a:r>
            <a:r>
              <a:rPr lang="en-US" dirty="0" err="1"/>
              <a:t>i.responsible_employee_id</a:t>
            </a:r>
            <a:r>
              <a:rPr lang="en-US" dirty="0"/>
              <a:t> = e.id;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3255B3-82C2-44AC-87EA-7DED3F578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050" y="3078452"/>
            <a:ext cx="6724650" cy="377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625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2D3EF1-DC48-418A-B7EB-24B7029E00C7}"/>
              </a:ext>
            </a:extLst>
          </p:cNvPr>
          <p:cNvSpPr txBox="1"/>
          <p:nvPr/>
        </p:nvSpPr>
        <p:spPr>
          <a:xfrm>
            <a:off x="114299" y="1189137"/>
            <a:ext cx="69627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5. Which clients are interested in which properties?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062966-9A83-4199-AF41-4A82976DEB2E}"/>
              </a:ext>
            </a:extLst>
          </p:cNvPr>
          <p:cNvSpPr txBox="1"/>
          <p:nvPr/>
        </p:nvSpPr>
        <p:spPr>
          <a:xfrm>
            <a:off x="704850" y="1589247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c.first_name</a:t>
            </a:r>
            <a:r>
              <a:rPr lang="en-US" dirty="0"/>
              <a:t>, </a:t>
            </a:r>
            <a:r>
              <a:rPr lang="en-US" dirty="0" err="1"/>
              <a:t>c.last_name</a:t>
            </a:r>
            <a:r>
              <a:rPr lang="en-US" dirty="0"/>
              <a:t>, p.address_line1, </a:t>
            </a:r>
            <a:r>
              <a:rPr lang="en-US" dirty="0" err="1"/>
              <a:t>ci.interest_level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client_property_interest</a:t>
            </a:r>
            <a:r>
              <a:rPr lang="en-US" dirty="0"/>
              <a:t> ci</a:t>
            </a:r>
          </a:p>
          <a:p>
            <a:r>
              <a:rPr lang="en-US" dirty="0"/>
              <a:t>JOIN client c ON </a:t>
            </a:r>
            <a:r>
              <a:rPr lang="en-US" dirty="0" err="1"/>
              <a:t>ci.client_id</a:t>
            </a:r>
            <a:r>
              <a:rPr lang="en-US" dirty="0"/>
              <a:t> = c.id</a:t>
            </a:r>
          </a:p>
          <a:p>
            <a:r>
              <a:rPr lang="en-US" dirty="0"/>
              <a:t>JOIN property p ON </a:t>
            </a:r>
            <a:r>
              <a:rPr lang="en-US" dirty="0" err="1"/>
              <a:t>ci.property_id</a:t>
            </a:r>
            <a:r>
              <a:rPr lang="en-US" dirty="0"/>
              <a:t> = p.id;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5EEA7B-A97C-41E4-BC2A-603B76A44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2896703"/>
            <a:ext cx="7143750" cy="396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56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7C0169-6DFF-40C7-9D5D-1A374DB04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6949" cy="685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1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A52D44-0373-4D46-9845-1F4CC7DF9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740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/>
          <p:nvPr/>
        </p:nvSpPr>
        <p:spPr>
          <a:xfrm>
            <a:off x="360" y="0"/>
            <a:ext cx="12191400" cy="6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2"/>
          <p:cNvSpPr/>
          <p:nvPr/>
        </p:nvSpPr>
        <p:spPr>
          <a:xfrm>
            <a:off x="1148400" y="2514600"/>
            <a:ext cx="98949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none" strike="noStrik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sz="3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2"/>
          <p:cNvSpPr/>
          <p:nvPr/>
        </p:nvSpPr>
        <p:spPr>
          <a:xfrm rot="-5400000">
            <a:off x="8794867" y="-8594"/>
            <a:ext cx="3388208" cy="3406341"/>
          </a:xfrm>
          <a:custGeom>
            <a:avLst/>
            <a:gdLst/>
            <a:ahLst/>
            <a:cxnLst/>
            <a:rect l="l" t="t" r="r" b="b"/>
            <a:pathLst>
              <a:path w="3388208" h="3406341" extrusionOk="0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rgbClr val="6378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2"/>
          <p:cNvSpPr/>
          <p:nvPr/>
        </p:nvSpPr>
        <p:spPr>
          <a:xfrm>
            <a:off x="8803800" y="3470760"/>
            <a:ext cx="3388208" cy="3406341"/>
          </a:xfrm>
          <a:custGeom>
            <a:avLst/>
            <a:gdLst/>
            <a:ahLst/>
            <a:cxnLst/>
            <a:rect l="l" t="t" r="r" b="b"/>
            <a:pathLst>
              <a:path w="3388208" h="3406341" extrusionOk="0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rgbClr val="1B38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1432</Words>
  <Application>Microsoft Office PowerPoint</Application>
  <PresentationFormat>Widescreen</PresentationFormat>
  <Paragraphs>125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ui-sans-serif</vt:lpstr>
      <vt:lpstr>Quattrocento Sans</vt:lpstr>
      <vt:lpstr>Calibri</vt:lpstr>
      <vt:lpstr>Times New Roman</vt:lpstr>
      <vt:lpstr>Arial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Step 1: Identify Functional Dependencies            List all FDs for each table                            (e.g., property_id → address, client_id → name, offer_id → amount)   Understand what determines what This becomes the foundation for all further normalization   Step 2: Convert to 1NF   Ensure all attributes are atomic Remove repeating groups and multi-valued fields   Create separate bridge tables for M:N relations                        (e.g., PROPERTY_FEATURE, PROPERTY_EMPLOYEE)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Asus</cp:lastModifiedBy>
  <cp:revision>10</cp:revision>
  <dcterms:modified xsi:type="dcterms:W3CDTF">2025-12-06T00:56:24Z</dcterms:modified>
</cp:coreProperties>
</file>